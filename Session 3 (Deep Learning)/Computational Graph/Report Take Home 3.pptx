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315" y="-54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6350" y="-11290"/>
            <a:ext cx="6877353" cy="9166580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7947" y="3206046"/>
            <a:ext cx="4370039" cy="2195069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7947" y="5401113"/>
            <a:ext cx="4370039" cy="1462532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44084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29961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601158"/>
            <a:ext cx="4760786" cy="243544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6036597"/>
            <a:ext cx="4760786" cy="11472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463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2800"/>
            <a:ext cx="4760786" cy="17610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880785"/>
            <a:ext cx="2316082" cy="5174363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1903" y="2880787"/>
            <a:ext cx="2316083" cy="517436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05581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2800"/>
            <a:ext cx="4760785" cy="17610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881311"/>
            <a:ext cx="2318004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" y="3649662"/>
            <a:ext cx="2318004" cy="440548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99980" y="2881311"/>
            <a:ext cx="2318004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99980" y="3649662"/>
            <a:ext cx="2318004" cy="440548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53763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12800"/>
            <a:ext cx="4760786" cy="17610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423367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49546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998139"/>
            <a:ext cx="2092637" cy="1704621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456" y="686567"/>
            <a:ext cx="2539528" cy="736858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3702759"/>
            <a:ext cx="2092637" cy="344593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65126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400800"/>
            <a:ext cx="4760786" cy="755651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199" y="812800"/>
            <a:ext cx="4760786" cy="512762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7156451"/>
            <a:ext cx="4760786" cy="898699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42869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2800"/>
            <a:ext cx="4760786" cy="45381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960533"/>
            <a:ext cx="4760786" cy="2094616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47675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64" y="812800"/>
            <a:ext cx="4554137" cy="40301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5806" y="4842933"/>
            <a:ext cx="4064853" cy="508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5960533"/>
            <a:ext cx="4760786" cy="2094616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  <p:sp>
        <p:nvSpPr>
          <p:cNvPr id="24" name="TextBox 23"/>
          <p:cNvSpPr txBox="1"/>
          <p:nvPr/>
        </p:nvSpPr>
        <p:spPr>
          <a:xfrm>
            <a:off x="362034" y="105383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0775" y="3848742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856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575984"/>
            <a:ext cx="4760786" cy="3460613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6036597"/>
            <a:ext cx="4760786" cy="2018552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555199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64" y="812800"/>
            <a:ext cx="4554137" cy="40301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198" y="5350933"/>
            <a:ext cx="4760787" cy="68566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6036597"/>
            <a:ext cx="4760786" cy="2018552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  <p:sp>
        <p:nvSpPr>
          <p:cNvPr id="24" name="TextBox 23"/>
          <p:cNvSpPr txBox="1"/>
          <p:nvPr/>
        </p:nvSpPr>
        <p:spPr>
          <a:xfrm>
            <a:off x="362034" y="105383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0775" y="3848742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14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86" y="812800"/>
            <a:ext cx="4756099" cy="40301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198" y="5350933"/>
            <a:ext cx="4760787" cy="68566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6036597"/>
            <a:ext cx="4760786" cy="2018552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1599475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4279240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82984" y="812801"/>
            <a:ext cx="734109" cy="700193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199" y="812801"/>
            <a:ext cx="3896270" cy="70019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410857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6350" y="-11290"/>
            <a:ext cx="6877354" cy="9166580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12800"/>
            <a:ext cx="4760785" cy="17610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880787"/>
            <a:ext cx="4760786" cy="5174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53944" y="8055152"/>
            <a:ext cx="51309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FA155-5A1F-49EF-B9FB-793D2D56E659}" type="datetimeFigureOut">
              <a:rPr lang="mr-IN" smtClean="0"/>
              <a:t>01-05-2026</a:t>
            </a:fld>
            <a:endParaRPr lang="mr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8055152"/>
            <a:ext cx="346723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r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3507" y="8055152"/>
            <a:ext cx="384479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ECBF56C7-AE5C-480D-998E-7119ECA7D6EA}" type="slidenum">
              <a:rPr lang="mr-IN" smtClean="0"/>
              <a:t>‹#›</a:t>
            </a:fld>
            <a:endParaRPr lang="mr-IN"/>
          </a:p>
        </p:txBody>
      </p:sp>
    </p:spTree>
    <p:extLst>
      <p:ext uri="{BB962C8B-B14F-4D97-AF65-F5344CB8AC3E}">
        <p14:creationId xmlns:p14="http://schemas.microsoft.com/office/powerpoint/2010/main" val="38831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04C2-0CAD-8996-680E-5AAB02498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RECOMMENDER SYSTEM REPORT</a:t>
            </a:r>
            <a:endParaRPr lang="mr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DBC8B-02E4-3BA5-50C7-AF5CC8825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UTKARSH PATIL, MA25BTECH11029</a:t>
            </a:r>
            <a:endParaRPr lang="mr-IN" sz="1600" dirty="0"/>
          </a:p>
        </p:txBody>
      </p:sp>
    </p:spTree>
    <p:extLst>
      <p:ext uri="{BB962C8B-B14F-4D97-AF65-F5344CB8AC3E}">
        <p14:creationId xmlns:p14="http://schemas.microsoft.com/office/powerpoint/2010/main" val="292957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7D9E1-89C5-7705-88D2-4A2D6912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425003"/>
            <a:ext cx="4760786" cy="7630148"/>
          </a:xfrm>
        </p:spPr>
        <p:txBody>
          <a:bodyPr>
            <a:normAutofit lnSpcReduction="10000"/>
          </a:bodyPr>
          <a:lstStyle/>
          <a:p>
            <a:r>
              <a:rPr lang="en-US" sz="1400" b="1" dirty="0">
                <a:latin typeface="Tw Cen MT" panose="020B0602020104020603" pitchFamily="34" charset="0"/>
              </a:rPr>
              <a:t>Approach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After having read and grasped the fundamental concepts behind Negative Sampling (Random and Popularity-based), Matrix Factorization and Multi-Layer-Perceptron models, I read the Neural Collaborative Filtering research paper referenced in the task description. I thus gained an idea of what the NCF framework aims to accomplish and how it is formalized.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I thus first implemented the baseline (MF) model, followed by the MLP model, both being trained on the same data and both being evaluated with the </a:t>
            </a:r>
            <a:r>
              <a:rPr lang="en-US" sz="1200" dirty="0" err="1">
                <a:latin typeface="Tw Cen MT" panose="020B0602020104020603" pitchFamily="34" charset="0"/>
              </a:rPr>
              <a:t>Hit@K</a:t>
            </a:r>
            <a:r>
              <a:rPr lang="en-US" sz="1200" dirty="0">
                <a:latin typeface="Tw Cen MT" panose="020B0602020104020603" pitchFamily="34" charset="0"/>
              </a:rPr>
              <a:t> metric. After this, I proceeded to implement the </a:t>
            </a:r>
            <a:r>
              <a:rPr lang="en-US" sz="1200" dirty="0" err="1">
                <a:latin typeface="Tw Cen MT" panose="020B0602020104020603" pitchFamily="34" charset="0"/>
              </a:rPr>
              <a:t>NeuMF</a:t>
            </a:r>
            <a:r>
              <a:rPr lang="en-US" sz="1200" dirty="0">
                <a:latin typeface="Tw Cen MT" panose="020B0602020104020603" pitchFamily="34" charset="0"/>
              </a:rPr>
              <a:t> model (Neural Matrix Factorization) under the NCF framework as described by the authors of the paper, by combining the pre-trained MF and MLP models.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r>
              <a:rPr lang="en-US" sz="1400" b="1" dirty="0">
                <a:latin typeface="Tw Cen MT" panose="020B0602020104020603" pitchFamily="34" charset="0"/>
              </a:rPr>
              <a:t>Key Design Choices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Random sampling was used to sample negatives for both the training and the testing loop. For the training and testing datasets, the number of negative samples per positive sample was 1 and 100, respectively. These are standard values used for training recommender systems.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loss function used to evaluate the predictions in all the models is the Binary Cross-Entropy Loss, with the predictions from each model being activated using a sigmoid function and then evaluated against the true prediction.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After exploring different values, I settled on 10 and 20 for the number of dimensions for the embeddings in the MF and MLP models, respectively. The MLP hidden layers were designed as: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Linear((Embedding Dimensions)*2, 32) -&gt; </a:t>
            </a:r>
            <a:r>
              <a:rPr lang="en-US" sz="1200" dirty="0" err="1">
                <a:latin typeface="Tw Cen MT" panose="020B0602020104020603" pitchFamily="34" charset="0"/>
              </a:rPr>
              <a:t>ReLU</a:t>
            </a:r>
            <a:r>
              <a:rPr lang="en-US" sz="1200" dirty="0">
                <a:latin typeface="Tw Cen MT" panose="020B0602020104020603" pitchFamily="34" charset="0"/>
              </a:rPr>
              <a:t> -&gt;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Linear(32, 16) -&gt; </a:t>
            </a:r>
            <a:r>
              <a:rPr lang="en-US" sz="1200" dirty="0" err="1">
                <a:latin typeface="Tw Cen MT" panose="020B0602020104020603" pitchFamily="34" charset="0"/>
              </a:rPr>
              <a:t>ReLU</a:t>
            </a:r>
            <a:r>
              <a:rPr lang="en-US" sz="1200" dirty="0">
                <a:latin typeface="Tw Cen MT" panose="020B0602020104020603" pitchFamily="34" charset="0"/>
              </a:rPr>
              <a:t> -&gt; Linear(16, 8) -&gt; </a:t>
            </a:r>
            <a:r>
              <a:rPr lang="en-US" sz="1200" dirty="0" err="1">
                <a:latin typeface="Tw Cen MT" panose="020B0602020104020603" pitchFamily="34" charset="0"/>
              </a:rPr>
              <a:t>ReLU</a:t>
            </a:r>
            <a:r>
              <a:rPr lang="en-US" sz="1200" dirty="0">
                <a:latin typeface="Tw Cen MT" panose="020B0602020104020603" pitchFamily="34" charset="0"/>
              </a:rPr>
              <a:t> -&gt; Linear(8, 1)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This was also done after referring to the values used in the paper and also after exploring a couple of different designs myself.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learning rates were chosen after trying different values, with a vanilla SGD optimizer for each model.</a:t>
            </a:r>
          </a:p>
          <a:p>
            <a:pPr marL="0" indent="0">
              <a:buNone/>
            </a:pPr>
            <a:endParaRPr lang="mr-IN" sz="12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420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F67CD-8242-6AD7-6075-47698810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79470-D3A3-E851-3858-4D69841AE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425003"/>
            <a:ext cx="4760786" cy="7630148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Tw Cen MT" panose="020B0602020104020603" pitchFamily="34" charset="0"/>
              </a:rPr>
              <a:t>Results (baseline vs MLP)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</a:t>
            </a:r>
            <a:r>
              <a:rPr lang="en-US" sz="1200" dirty="0" err="1">
                <a:latin typeface="Tw Cen MT" panose="020B0602020104020603" pitchFamily="34" charset="0"/>
              </a:rPr>
              <a:t>Hit@K</a:t>
            </a:r>
            <a:r>
              <a:rPr lang="en-US" sz="1200" dirty="0">
                <a:latin typeface="Tw Cen MT" panose="020B0602020104020603" pitchFamily="34" charset="0"/>
              </a:rPr>
              <a:t> values for the two models were (after 10 epochs each):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Baseline (MF): 0.471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MLP: 0.437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r>
              <a:rPr lang="en-US" sz="1400" b="1" dirty="0">
                <a:latin typeface="Tw Cen MT" panose="020B0602020104020603" pitchFamily="34" charset="0"/>
              </a:rPr>
              <a:t>What I Tried Beyond the Basics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I tried using different values and orders of functions for the MLP layer and also understood how to implement the </a:t>
            </a:r>
            <a:r>
              <a:rPr lang="en-US" sz="1200" dirty="0" err="1">
                <a:latin typeface="Tw Cen MT" panose="020B0602020104020603" pitchFamily="34" charset="0"/>
              </a:rPr>
              <a:t>NeuMF</a:t>
            </a:r>
            <a:r>
              <a:rPr lang="en-US" sz="1200" dirty="0">
                <a:latin typeface="Tw Cen MT" panose="020B0602020104020603" pitchFamily="34" charset="0"/>
              </a:rPr>
              <a:t> model using pre-trained or blank MF and MLP models.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r>
              <a:rPr lang="en-US" sz="1400" b="1" dirty="0">
                <a:latin typeface="Tw Cen MT" panose="020B0602020104020603" pitchFamily="34" charset="0"/>
              </a:rPr>
              <a:t>Observations</a:t>
            </a: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MF model performed slightly better than the MLP model. Also, the </a:t>
            </a:r>
            <a:r>
              <a:rPr lang="en-US" sz="1200" dirty="0" err="1">
                <a:latin typeface="Tw Cen MT" panose="020B0602020104020603" pitchFamily="34" charset="0"/>
              </a:rPr>
              <a:t>NeuMF</a:t>
            </a:r>
            <a:r>
              <a:rPr lang="en-US" sz="1200" dirty="0">
                <a:latin typeface="Tw Cen MT" panose="020B0602020104020603" pitchFamily="34" charset="0"/>
              </a:rPr>
              <a:t> model ended up performing better than both the individual models with a </a:t>
            </a:r>
            <a:r>
              <a:rPr lang="en-US" sz="1200" dirty="0" err="1">
                <a:latin typeface="Tw Cen MT" panose="020B0602020104020603" pitchFamily="34" charset="0"/>
              </a:rPr>
              <a:t>Hit@K</a:t>
            </a:r>
            <a:r>
              <a:rPr lang="en-US" sz="1200" dirty="0">
                <a:latin typeface="Tw Cen MT" panose="020B0602020104020603" pitchFamily="34" charset="0"/>
              </a:rPr>
              <a:t> score of 0.516 after 10 epochs. This shows that combining both the MF and MLP approaches and having them complement each other’s gradients helped contribute towards a more fruitful mix of learning both linear and non-linear patterns in the embeddings.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number of dimensions and number of epochs were important with respect to the issue of overfitting the data. After trying a number of different embedding dimensions and number of epochs, I found that a greater number of dimensions and a greater number of epochs could potentially lead to overfitting the data.</a:t>
            </a:r>
          </a:p>
          <a:p>
            <a:pPr marL="0" indent="0">
              <a:buNone/>
            </a:pPr>
            <a:endParaRPr lang="en-US" sz="12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US" sz="1200" dirty="0">
                <a:latin typeface="Tw Cen MT" panose="020B0602020104020603" pitchFamily="34" charset="0"/>
              </a:rPr>
              <a:t>The number of negatives sampled per positive sample while testing the data would also affect the </a:t>
            </a:r>
            <a:r>
              <a:rPr lang="en-US" sz="1200" dirty="0" err="1">
                <a:latin typeface="Tw Cen MT" panose="020B0602020104020603" pitchFamily="34" charset="0"/>
              </a:rPr>
              <a:t>Hit@K</a:t>
            </a:r>
            <a:r>
              <a:rPr lang="en-US" sz="1200" dirty="0">
                <a:latin typeface="Tw Cen MT" panose="020B0602020104020603" pitchFamily="34" charset="0"/>
              </a:rPr>
              <a:t> values, with lesser negative samples per positive sample yielding higher </a:t>
            </a:r>
            <a:r>
              <a:rPr lang="en-US" sz="1200" dirty="0" err="1">
                <a:latin typeface="Tw Cen MT" panose="020B0602020104020603" pitchFamily="34" charset="0"/>
              </a:rPr>
              <a:t>Hit@K</a:t>
            </a:r>
            <a:r>
              <a:rPr lang="en-US" sz="1200" dirty="0">
                <a:latin typeface="Tw Cen MT" panose="020B0602020104020603" pitchFamily="34" charset="0"/>
              </a:rPr>
              <a:t> values for both the MF and MLP models.</a:t>
            </a:r>
          </a:p>
        </p:txBody>
      </p:sp>
    </p:spTree>
    <p:extLst>
      <p:ext uri="{BB962C8B-B14F-4D97-AF65-F5344CB8AC3E}">
        <p14:creationId xmlns:p14="http://schemas.microsoft.com/office/powerpoint/2010/main" val="8763938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577</Words>
  <Application>Microsoft Office PowerPoint</Application>
  <PresentationFormat>Letter Paper (8.5x11 in)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Tw Cen MT</vt:lpstr>
      <vt:lpstr>Wingdings 3</vt:lpstr>
      <vt:lpstr>Facet</vt:lpstr>
      <vt:lpstr>NEURAL RECOMMENDER SYSTEM REPORT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patil</dc:creator>
  <cp:lastModifiedBy>sandeep patil</cp:lastModifiedBy>
  <cp:revision>5</cp:revision>
  <dcterms:created xsi:type="dcterms:W3CDTF">2026-05-01T05:31:15Z</dcterms:created>
  <dcterms:modified xsi:type="dcterms:W3CDTF">2026-05-01T15:25:16Z</dcterms:modified>
</cp:coreProperties>
</file>